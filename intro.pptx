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2" r:id="rId2"/>
    <p:sldId id="283" r:id="rId3"/>
    <p:sldId id="266" r:id="rId4"/>
    <p:sldId id="274" r:id="rId5"/>
    <p:sldId id="268" r:id="rId6"/>
    <p:sldId id="275" r:id="rId7"/>
    <p:sldId id="271" r:id="rId8"/>
    <p:sldId id="277" r:id="rId9"/>
    <p:sldId id="280" r:id="rId10"/>
    <p:sldId id="278" r:id="rId11"/>
    <p:sldId id="279" r:id="rId12"/>
    <p:sldId id="281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87" d="100"/>
          <a:sy n="87" d="100"/>
        </p:scale>
        <p:origin x="96" y="-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D756B-6CCB-4FD5-8804-708B25E9BCA9}" type="datetimeFigureOut">
              <a:rPr lang="fr-FR" smtClean="0"/>
              <a:t>16/07/2022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DBA73-75D6-497B-9297-F9578E57A2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1912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65FD4-5DDF-4D3F-8B68-F139F9D2F458}" type="datetime1">
              <a:rPr lang="fr-FR" smtClean="0"/>
              <a:t>16/07/2022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Amina Hedhili, GoMyCode Student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843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7797-5614-4161-9561-EB032598872E}" type="datetime1">
              <a:rPr lang="fr-FR" smtClean="0"/>
              <a:t>16/07/2022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Amina Hedhili, GoMyCode Student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1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8C56F-1B07-4FC4-B6DE-958CE6862F38}" type="datetime1">
              <a:rPr lang="fr-FR" smtClean="0"/>
              <a:t>16/07/2022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Amina Hedhili, GoMyCode Student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947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46945-7BA5-4583-BD81-0278DCA325CB}" type="datetime1">
              <a:rPr lang="fr-FR" smtClean="0"/>
              <a:t>16/07/2022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Amina Hedhili, GoMyCode Student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334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3A96-F45B-4470-AF7F-947823642932}" type="datetime1">
              <a:rPr lang="fr-FR" smtClean="0"/>
              <a:t>16/07/2022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Amina Hedhili, GoMyCode Student</a:t>
            </a: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00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82BB-6A79-47F9-B8C5-AF73BD4300C3}" type="datetime1">
              <a:rPr lang="fr-FR" smtClean="0"/>
              <a:t>16/07/2022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Amina Hedhili, GoMyCode Student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3468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A8D8-EFBE-47E4-887D-1183D82BDE8D}" type="datetime1">
              <a:rPr lang="fr-FR" smtClean="0"/>
              <a:t>16/07/2022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Amina Hedhili, GoMyCode Student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3481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F1389-0A1C-4595-A564-3C641A593185}" type="datetime1">
              <a:rPr lang="fr-FR" smtClean="0"/>
              <a:t>16/07/2022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Amina Hedhili, GoMyCode Student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4495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39077-9B1A-4178-80E7-CCE3ECEF1202}" type="datetime1">
              <a:rPr lang="fr-FR" smtClean="0"/>
              <a:t>16/07/2022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Amina Hedhili, GoMyCode Student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843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06D26-87AB-412B-A67F-51C6D0AD1DFA}" type="datetime1">
              <a:rPr lang="fr-FR" smtClean="0"/>
              <a:t>16/07/2022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Amina Hedhili, GoMyCode Student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293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92369-1C82-47B8-AB38-D63900DBE155}" type="datetime1">
              <a:rPr lang="fr-FR" smtClean="0"/>
              <a:t>16/07/2022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Amina Hedhili, GoMyCode Student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030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48B50-A879-4F40-82C8-E039C7F3C239}" type="datetime1">
              <a:rPr lang="fr-FR" smtClean="0"/>
              <a:t>16/07/2022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l-PL"/>
              <a:t>Amina Hedhili, GoMyCode Student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26BA6-6562-4434-A505-7A86E03C3A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19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FFF02E-39CF-6C8C-A0AC-86A452DB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Imprint MT Shadow" panose="04020605060303030202" pitchFamily="82" charset="0"/>
              </a:rPr>
              <a:t>Checkpoint: Introduction to </a:t>
            </a:r>
            <a:r>
              <a:rPr lang="fr-FR" b="1" dirty="0" err="1">
                <a:latin typeface="Imprint MT Shadow" panose="04020605060303030202" pitchFamily="82" charset="0"/>
              </a:rPr>
              <a:t>Databases</a:t>
            </a:r>
            <a:endParaRPr lang="fr-FR" dirty="0">
              <a:latin typeface="Imprint MT Shadow" panose="04020605060303030202" pitchFamily="82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511D6D-D74A-02B3-12DD-8A220EFD5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400" b="0" i="0" dirty="0">
                <a:solidFill>
                  <a:srgbClr val="0F0F19"/>
                </a:solidFill>
                <a:effectLst/>
                <a:latin typeface="Monotype Corsiva" panose="03010101010201010101" pitchFamily="66" charset="0"/>
              </a:rPr>
              <a:t>The three relational RDBMS  : </a:t>
            </a:r>
          </a:p>
          <a:p>
            <a:pPr marL="0" indent="0" algn="ctr">
              <a:buNone/>
            </a:pPr>
            <a:r>
              <a:rPr lang="en-US" sz="4400" b="0" i="0" dirty="0">
                <a:solidFill>
                  <a:srgbClr val="0F0F19"/>
                </a:solidFill>
                <a:effectLst/>
                <a:latin typeface="Monotype Corsiva" panose="03010101010201010101" pitchFamily="66" charset="0"/>
              </a:rPr>
              <a:t>MySQL, PostgreSQL and SQL SERVER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1FB8DB9-5B34-1341-DEFC-1781F5B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Amina Hedhili, GoMyCode Student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A387CDC-EE32-F3BA-8AE3-65D9A43F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1</a:t>
            </a:fld>
            <a:endParaRPr lang="fr-FR"/>
          </a:p>
        </p:txBody>
      </p:sp>
      <p:pic>
        <p:nvPicPr>
          <p:cNvPr id="6" name="Picture 2" descr="Microsoft SQL Server Logo Vector (.SVG) Free Download">
            <a:extLst>
              <a:ext uri="{FF2B5EF4-FFF2-40B4-BE49-F238E27FC236}">
                <a16:creationId xmlns:a16="http://schemas.microsoft.com/office/drawing/2014/main" id="{B61054AF-AA69-7B07-405D-5FD5A9FA6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652" y="3544537"/>
            <a:ext cx="1639902" cy="1328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MySQL — Wikipédia">
            <a:extLst>
              <a:ext uri="{FF2B5EF4-FFF2-40B4-BE49-F238E27FC236}">
                <a16:creationId xmlns:a16="http://schemas.microsoft.com/office/drawing/2014/main" id="{BBEFBC4A-B73C-1B7F-286E-0DC3D3BDF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474" y="3598182"/>
            <a:ext cx="1792114" cy="927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Logo PostgreSQL - Impuls&amp;amp;#39;Map !">
            <a:extLst>
              <a:ext uri="{FF2B5EF4-FFF2-40B4-BE49-F238E27FC236}">
                <a16:creationId xmlns:a16="http://schemas.microsoft.com/office/drawing/2014/main" id="{F8157B4A-BA64-10E0-C938-AE39069B3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353" y="3363917"/>
            <a:ext cx="1575585" cy="1749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05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BFF69A-6E94-ABE8-FA8D-A5C7602C7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</a:t>
            </a:r>
            <a:br>
              <a:rPr lang="en-US" b="1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DDB950-693C-194A-17A0-1253D4A7A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754"/>
            <a:ext cx="10515600" cy="503120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High Tower Text" panose="02040502050506030303" pitchFamily="18" charset="0"/>
              </a:rPr>
              <a:t>MySQL  and  their </a:t>
            </a:r>
            <a:r>
              <a:rPr lang="en-US" b="1" dirty="0">
                <a:latin typeface="High Tower Text" panose="02040502050506030303" pitchFamily="18" charset="0"/>
              </a:rPr>
              <a:t>Features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High Tower Text" panose="02040502050506030303" pitchFamily="18" charset="0"/>
              </a:rPr>
              <a:t>PostgreSQL</a:t>
            </a:r>
            <a:r>
              <a:rPr lang="en-US" sz="2800" b="1" dirty="0">
                <a:latin typeface="High Tower Text" panose="02040502050506030303" pitchFamily="18" charset="0"/>
              </a:rPr>
              <a:t> and  their </a:t>
            </a:r>
            <a:r>
              <a:rPr lang="en-US" b="1" dirty="0">
                <a:latin typeface="High Tower Text" panose="02040502050506030303" pitchFamily="18" charset="0"/>
              </a:rPr>
              <a:t>Features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High Tower Text" panose="02040502050506030303" pitchFamily="18" charset="0"/>
              </a:rPr>
              <a:t>SQL Server</a:t>
            </a:r>
            <a:r>
              <a:rPr lang="en-US" sz="2800" b="1" dirty="0">
                <a:latin typeface="High Tower Text" panose="02040502050506030303" pitchFamily="18" charset="0"/>
              </a:rPr>
              <a:t> and  their </a:t>
            </a:r>
            <a:r>
              <a:rPr lang="en-US" b="1" dirty="0">
                <a:latin typeface="High Tower Text" panose="02040502050506030303" pitchFamily="18" charset="0"/>
              </a:rPr>
              <a:t>Features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High Tower Text" panose="02040502050506030303" pitchFamily="18" charset="0"/>
              </a:rPr>
              <a:t>MySQL vs PostgreSQL vs SQL Server: </a:t>
            </a:r>
            <a:r>
              <a:rPr lang="en-US" sz="1800" b="1" dirty="0">
                <a:solidFill>
                  <a:srgbClr val="FFC000"/>
                </a:solidFill>
                <a:latin typeface="High Tower Text" panose="02040502050506030303" pitchFamily="18" charset="0"/>
              </a:rPr>
              <a:t>Popularity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High Tower Text" panose="02040502050506030303" pitchFamily="18" charset="0"/>
              </a:rPr>
              <a:t>MySQL vs PostgreSQL vs SQL Server: </a:t>
            </a:r>
            <a:r>
              <a:rPr lang="en-US" sz="1800" b="1" dirty="0">
                <a:solidFill>
                  <a:srgbClr val="FFC000"/>
                </a:solidFill>
                <a:latin typeface="High Tower Text" panose="02040502050506030303" pitchFamily="18" charset="0"/>
              </a:rPr>
              <a:t>Speed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High Tower Text" panose="02040502050506030303" pitchFamily="18" charset="0"/>
              </a:rPr>
              <a:t>MySQL vs PostgreSQL vs SQL Server: </a:t>
            </a:r>
            <a:r>
              <a:rPr lang="en-US" sz="1800" b="1" dirty="0">
                <a:solidFill>
                  <a:srgbClr val="FFC000"/>
                </a:solidFill>
                <a:latin typeface="High Tower Text" panose="02040502050506030303" pitchFamily="18" charset="0"/>
              </a:rPr>
              <a:t>Performance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High Tower Text" panose="02040502050506030303" pitchFamily="18" charset="0"/>
              </a:rPr>
              <a:t>MySQL vs PostgreSQL vs SQL Server: </a:t>
            </a:r>
            <a:r>
              <a:rPr lang="en-US" sz="1800" b="1" dirty="0">
                <a:solidFill>
                  <a:srgbClr val="FFC000"/>
                </a:solidFill>
                <a:latin typeface="High Tower Text" panose="02040502050506030303" pitchFamily="18" charset="0"/>
              </a:rPr>
              <a:t>Ranking Score</a:t>
            </a:r>
            <a:endParaRPr lang="fr-FR" sz="2800" b="1" dirty="0">
              <a:latin typeface="High Tower Text" panose="02040502050506030303" pitchFamily="18" charset="0"/>
            </a:endParaRPr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4E2F57-EE29-0E4D-7E8C-E641DD5E9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Amina Hedhili, GoMyCode Student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7E5B14-5C6F-FCA4-A259-A597F684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213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MySQL (</a:t>
            </a:r>
            <a:r>
              <a:rPr lang="fr-FR" b="1" dirty="0" err="1"/>
              <a:t>Structured</a:t>
            </a:r>
            <a:r>
              <a:rPr lang="fr-FR" b="1" dirty="0"/>
              <a:t> </a:t>
            </a:r>
            <a:r>
              <a:rPr lang="fr-FR" b="1" dirty="0" err="1"/>
              <a:t>Query</a:t>
            </a:r>
            <a:r>
              <a:rPr lang="fr-FR" b="1" dirty="0"/>
              <a:t> </a:t>
            </a:r>
            <a:r>
              <a:rPr lang="fr-FR" b="1" dirty="0" err="1"/>
              <a:t>Language</a:t>
            </a:r>
            <a:r>
              <a:rPr lang="fr-FR" b="1" dirty="0"/>
              <a:t>)</a:t>
            </a:r>
            <a:endParaRPr lang="en-US" b="1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3</a:t>
            </a:fld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838199" y="1933454"/>
            <a:ext cx="10515599" cy="2308324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MySQL 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is an open-source database management system developed by the Oracle Corporation.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It is more of a relational database system thus stands as RDBMS.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is a form of database for storing data in a closely structured format using rows and columns format.</a:t>
            </a:r>
          </a:p>
        </p:txBody>
      </p:sp>
      <p:pic>
        <p:nvPicPr>
          <p:cNvPr id="5" name="Picture 2" descr="MySQL — Wikipé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3790" y="520700"/>
            <a:ext cx="1792114" cy="927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50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MySQL Features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4</a:t>
            </a:fld>
            <a:endParaRPr lang="fr-FR"/>
          </a:p>
        </p:txBody>
      </p:sp>
      <p:pic>
        <p:nvPicPr>
          <p:cNvPr id="5" name="Picture 2" descr="MySQL — Wikipé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3790" y="520700"/>
            <a:ext cx="1792114" cy="927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Features Of Mysql - Graphic Design | Full Size PNG Download | Seek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928"/>
            <a:ext cx="10685478" cy="4831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0479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PostgreSQL</a:t>
            </a:r>
            <a:endParaRPr lang="en-US" b="1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5</a:t>
            </a:fld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838200" y="2129626"/>
            <a:ext cx="10515600" cy="1938992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/>
              <a:t>PostgreSQL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is a powerful, open source object-relational database system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uses and extends the SQL language combined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safely store and scale the most complicated data workloads.</a:t>
            </a:r>
            <a:endParaRPr lang="fr-FR" sz="2200" dirty="0"/>
          </a:p>
        </p:txBody>
      </p:sp>
      <p:pic>
        <p:nvPicPr>
          <p:cNvPr id="10" name="Picture 4" descr="Logo PostgreSQL - Impuls&amp;amp;#39;Map !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415" y="380405"/>
            <a:ext cx="1575585" cy="1749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 descr="What is PostgreSQL? What are the Features and Advantages? – SYSTEMCON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AutoShape 4" descr="What is PostgreSQL? What are the Features and Advantages? – SYSTEMCON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9637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12738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err="1"/>
              <a:t>PostgreSQL</a:t>
            </a:r>
            <a:r>
              <a:rPr lang="en-US" b="1" dirty="0"/>
              <a:t> Features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6</a:t>
            </a:fld>
            <a:endParaRPr lang="fr-FR"/>
          </a:p>
        </p:txBody>
      </p:sp>
      <p:pic>
        <p:nvPicPr>
          <p:cNvPr id="10" name="Picture 4" descr="Logo PostgreSQL - Impuls&amp;amp;#39;Map !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8654"/>
            <a:ext cx="1575585" cy="1749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 descr="What is PostgreSQL? What are the Features and Advantages? – SYSTEMCON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AutoShape 4" descr="What is PostgreSQL? What are the Features and Advantages? – SYSTEMCON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07875"/>
            <a:ext cx="10611690" cy="424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261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SQL Server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7</a:t>
            </a:fld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838200" y="2129626"/>
            <a:ext cx="10515600" cy="193899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The SQL Server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is a relational database management system from Microsoft.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system is designed and built is to manage and store information.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system supports various business intelligence operations, analytics operations, and transaction processing.</a:t>
            </a:r>
            <a:endParaRPr lang="fr-FR" sz="2200" dirty="0"/>
          </a:p>
        </p:txBody>
      </p:sp>
      <p:pic>
        <p:nvPicPr>
          <p:cNvPr id="10" name="Picture 4" descr="Microsoft SQL Server Logo Vector (.SVG) Free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460" y="715210"/>
            <a:ext cx="1475243" cy="1194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3708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896293"/>
            <a:ext cx="10515600" cy="794395"/>
          </a:xfrm>
          <a:noFill/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b="1" dirty="0"/>
              <a:t>SQL Server </a:t>
            </a:r>
            <a:r>
              <a:rPr lang="en-US" b="1" dirty="0"/>
              <a:t>Features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8</a:t>
            </a:fld>
            <a:endParaRPr lang="fr-FR"/>
          </a:p>
        </p:txBody>
      </p:sp>
      <p:pic>
        <p:nvPicPr>
          <p:cNvPr id="8" name="Picture 4" descr="Microsoft SQL Server Logo Vector (.SVG) Free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720" y="495741"/>
            <a:ext cx="1475243" cy="1194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SQL Server 2016 - Features Overview &amp;amp;amp; Licensing Webinar - YouTub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" t="17092" b="19935"/>
          <a:stretch/>
        </p:blipFill>
        <p:spPr bwMode="auto">
          <a:xfrm>
            <a:off x="733331" y="2589291"/>
            <a:ext cx="10365746" cy="3695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SQL 2016: What are the news for Business Intelligen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" name="AutoShape 6" descr="SQL 2016: What are the news for Business Intelligenc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AutoShape 8" descr="SQL 2016: What are the news for Business Intelligence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246" name="Picture 6" descr="SQL Server 2019 important featur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690688"/>
            <a:ext cx="10188921" cy="444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655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MySQL </a:t>
            </a:r>
            <a:r>
              <a:rPr lang="en-US" b="1" dirty="0" err="1"/>
              <a:t>vs</a:t>
            </a:r>
            <a:r>
              <a:rPr lang="en-US" b="1" dirty="0"/>
              <a:t> </a:t>
            </a:r>
            <a:r>
              <a:rPr lang="en-US" b="1" dirty="0" err="1"/>
              <a:t>PostgreSQL</a:t>
            </a:r>
            <a:r>
              <a:rPr lang="en-US" b="1" dirty="0"/>
              <a:t> </a:t>
            </a:r>
            <a:r>
              <a:rPr lang="en-US" b="1" dirty="0" err="1"/>
              <a:t>vs</a:t>
            </a:r>
            <a:r>
              <a:rPr lang="en-US" b="1" dirty="0"/>
              <a:t> SQL Server: </a:t>
            </a:r>
            <a:r>
              <a:rPr lang="en-US" sz="3200" b="1" dirty="0">
                <a:solidFill>
                  <a:srgbClr val="FFC000"/>
                </a:solidFill>
              </a:rPr>
              <a:t>Popularity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9</a:t>
            </a:fld>
            <a:endParaRPr lang="fr-FR"/>
          </a:p>
        </p:txBody>
      </p:sp>
      <p:sp>
        <p:nvSpPr>
          <p:cNvPr id="5" name="AutoShape 2" descr="What is PostgreSQL? What are the Features and Advantages? – SYSTEMCON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AutoShape 4" descr="What is PostgreSQL? What are the Features and Advantages? – SYSTEMCON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1272" name="Picture 8" descr="stackoverflow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084" y="1372137"/>
            <a:ext cx="7220280" cy="4880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988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MySQL vs PostgreSQL vs SQL Server: </a:t>
            </a:r>
            <a:r>
              <a:rPr lang="en-US" sz="3200" b="1" dirty="0">
                <a:solidFill>
                  <a:srgbClr val="FFC000"/>
                </a:solidFill>
              </a:rPr>
              <a:t>Speed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10</a:t>
            </a:fld>
            <a:endParaRPr lang="fr-FR"/>
          </a:p>
        </p:txBody>
      </p:sp>
      <p:sp>
        <p:nvSpPr>
          <p:cNvPr id="5" name="AutoShape 2" descr="What is PostgreSQL? What are the Features and Advantages? – SYSTEMCON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AutoShape 4" descr="What is PostgreSQL? What are the Features and Advantages? – SYSTEMCON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1270" name="Picture 6" descr="https://miro.medium.com/max/1050/1*y0hFgkf5GaaS6Ml8DYzol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614" y="1519378"/>
            <a:ext cx="10001250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1934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MySQL </a:t>
            </a:r>
            <a:r>
              <a:rPr lang="en-US" b="1" dirty="0" err="1"/>
              <a:t>vs</a:t>
            </a:r>
            <a:r>
              <a:rPr lang="en-US" b="1" dirty="0"/>
              <a:t> </a:t>
            </a:r>
            <a:r>
              <a:rPr lang="en-US" b="1" dirty="0" err="1"/>
              <a:t>PostgreSQL</a:t>
            </a:r>
            <a:r>
              <a:rPr lang="en-US" b="1" dirty="0"/>
              <a:t> </a:t>
            </a:r>
            <a:r>
              <a:rPr lang="en-US" b="1" dirty="0" err="1"/>
              <a:t>vs</a:t>
            </a:r>
            <a:r>
              <a:rPr lang="en-US" b="1" dirty="0"/>
              <a:t> SQL Server: </a:t>
            </a:r>
            <a:r>
              <a:rPr lang="en-US" sz="3200" b="1" dirty="0">
                <a:solidFill>
                  <a:srgbClr val="FFC000"/>
                </a:solidFill>
              </a:rPr>
              <a:t>Performance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11</a:t>
            </a:fld>
            <a:endParaRPr lang="fr-FR"/>
          </a:p>
        </p:txBody>
      </p:sp>
      <p:sp>
        <p:nvSpPr>
          <p:cNvPr id="5" name="AutoShape 2" descr="What is PostgreSQL? What are the Features and Advantages? – SYSTEMCON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AutoShape 4" descr="What is PostgreSQL? What are the Features and Advantages? – SYSTEMCON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1268" name="Picture 4" descr="https://miro.medium.com/max/1050/1*eCSqiEQHO_uqZxvF3nMwgg.pn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00404"/>
            <a:ext cx="12142680" cy="28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646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MySQL </a:t>
            </a:r>
            <a:r>
              <a:rPr lang="en-US" b="1" dirty="0" err="1"/>
              <a:t>vs</a:t>
            </a:r>
            <a:r>
              <a:rPr lang="en-US" b="1" dirty="0"/>
              <a:t> </a:t>
            </a:r>
            <a:r>
              <a:rPr lang="en-US" b="1" dirty="0" err="1"/>
              <a:t>PostgreSQL</a:t>
            </a:r>
            <a:r>
              <a:rPr lang="en-US" b="1" dirty="0"/>
              <a:t> </a:t>
            </a:r>
            <a:r>
              <a:rPr lang="en-US" b="1" dirty="0" err="1"/>
              <a:t>vs</a:t>
            </a:r>
            <a:r>
              <a:rPr lang="en-US" b="1" dirty="0"/>
              <a:t> SQL Server: </a:t>
            </a:r>
            <a:r>
              <a:rPr lang="en-US" sz="3200" b="1" dirty="0">
                <a:solidFill>
                  <a:srgbClr val="FFC000"/>
                </a:solidFill>
              </a:rPr>
              <a:t>Ranking Score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6BA6-6562-4434-A505-7A86E03C3AD3}" type="slidenum">
              <a:rPr lang="fr-FR" smtClean="0"/>
              <a:t>12</a:t>
            </a:fld>
            <a:endParaRPr lang="fr-FR"/>
          </a:p>
        </p:txBody>
      </p:sp>
      <p:sp>
        <p:nvSpPr>
          <p:cNvPr id="5" name="AutoShape 2" descr="What is PostgreSQL? What are the Features and Advantages? – SYSTEMCON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AutoShape 4" descr="What is PostgreSQL? What are the Features and Advantages? – SYSTEMCON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1266" name="Picture 2" descr="SQL Server vs MySQL vs Postgresql: Which One Is the B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437686"/>
            <a:ext cx="7939589" cy="4828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0613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2538</TotalTime>
  <Words>248</Words>
  <Application>Microsoft Office PowerPoint</Application>
  <PresentationFormat>Grand écran</PresentationFormat>
  <Paragraphs>48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High Tower Text</vt:lpstr>
      <vt:lpstr>Imprint MT Shadow</vt:lpstr>
      <vt:lpstr>Monotype Corsiva</vt:lpstr>
      <vt:lpstr>Wingdings</vt:lpstr>
      <vt:lpstr>Thème Office</vt:lpstr>
      <vt:lpstr>Checkpoint: Introduction to Databases</vt:lpstr>
      <vt:lpstr>Plan </vt:lpstr>
      <vt:lpstr>MySQL (Structured Query Language)</vt:lpstr>
      <vt:lpstr>MySQL Features</vt:lpstr>
      <vt:lpstr>PostgreSQL</vt:lpstr>
      <vt:lpstr>PostgreSQL Features</vt:lpstr>
      <vt:lpstr>SQL Server</vt:lpstr>
      <vt:lpstr>SQL Server Features</vt:lpstr>
      <vt:lpstr>MySQL vs PostgreSQL vs SQL Server: Popularity</vt:lpstr>
      <vt:lpstr>MySQL vs PostgreSQL vs SQL Server: Speed</vt:lpstr>
      <vt:lpstr>MySQL vs PostgreSQL vs SQL Server: Performance</vt:lpstr>
      <vt:lpstr>MySQL vs PostgreSQL vs SQL Server: Ranking Score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Lenovo</dc:creator>
  <cp:lastModifiedBy>PC</cp:lastModifiedBy>
  <cp:revision>49</cp:revision>
  <dcterms:created xsi:type="dcterms:W3CDTF">2021-11-26T22:20:35Z</dcterms:created>
  <dcterms:modified xsi:type="dcterms:W3CDTF">2022-07-16T09:35:31Z</dcterms:modified>
</cp:coreProperties>
</file>